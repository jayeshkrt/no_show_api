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5.xml" ContentType="application/vnd.openxmlformats-officedocument.theme+xml"/>
  <Override PartName="/ppt/theme/_rels/them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4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4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4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D3C7A0-FD52-4AF5-B553-4F249FB84461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introduces the motivation behind building an AI-driven healthcare CRM system.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Here I explain the operational inefficiencies in traditional healthcare management.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3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8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47640" y="274680"/>
            <a:ext cx="604800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62A125F9-1FE0-4329-83E6-B7DFBEFEEDBE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20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4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25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47640" y="274680"/>
            <a:ext cx="604800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1" lang="en-US" sz="24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4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0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6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1" lang="en-US" sz="24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4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0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6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4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5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6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9DC0E3C-8D6F-4F08-87D1-EBA22099CE44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39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0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1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2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3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44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6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47640" y="274680"/>
            <a:ext cx="604800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7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8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9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B6BE9A5F-A838-48F3-AF2F-E3BFCDCF9D82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54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5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6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7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8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59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0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1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62" name="PlaceHolder 1"/>
          <p:cNvSpPr>
            <a:spLocks noGrp="1"/>
          </p:cNvSpPr>
          <p:nvPr>
            <p:ph type="dt" idx="10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11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12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CC0A1DC-629D-40D7-9BBF-07688347B9CB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68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9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0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1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2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73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5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67640" y="155664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575160" y="1917000"/>
            <a:ext cx="5110920" cy="42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32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4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0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2752560"/>
            <a:ext cx="3007440" cy="33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US" sz="14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3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14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15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31F0D21D-0C42-408D-999C-32E7036627C7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85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6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7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8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9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90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1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dt" idx="16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17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8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66360EF5-5460-42ED-A2BC-ADF6CABE0A58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20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1852200" y="1797120"/>
            <a:ext cx="5438880" cy="2999160"/>
          </a:xfrm>
          <a:prstGeom prst="rect">
            <a:avLst/>
          </a:prstGeom>
          <a:blipFill rotWithShape="0">
            <a:blip r:embed="rId5"/>
            <a:tile tx="0" ty="0" sx="100000" sy="100000" algn="tl"/>
          </a:blipFill>
          <a:ln w="4752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icon to add picture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1737360" y="5445360"/>
            <a:ext cx="566856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US" sz="16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1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02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4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5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6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07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8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9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10" name="PlaceHolder 1"/>
          <p:cNvSpPr>
            <a:spLocks noGrp="1"/>
          </p:cNvSpPr>
          <p:nvPr>
            <p:ph type="dt" idx="19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20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21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373B3318-3A3A-462B-A77B-25F08FD135D8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3" name="Picture Placeholder 18" descr=""/>
          <p:cNvPicPr/>
          <p:nvPr/>
        </p:nvPicPr>
        <p:blipFill>
          <a:blip r:embed="rId5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4" name="Group 11"/>
          <p:cNvGrpSpPr/>
          <p:nvPr/>
        </p:nvGrpSpPr>
        <p:grpSpPr>
          <a:xfrm>
            <a:off x="2411640" y="3786840"/>
            <a:ext cx="4319640" cy="157680"/>
            <a:chOff x="2411640" y="3786840"/>
            <a:chExt cx="4319640" cy="157680"/>
          </a:xfrm>
        </p:grpSpPr>
        <p:sp>
          <p:nvSpPr>
            <p:cNvPr id="115" name="Polyline 4"/>
            <p:cNvSpPr/>
            <p:nvPr/>
          </p:nvSpPr>
          <p:spPr>
            <a:xfrm>
              <a:off x="2411640" y="3823920"/>
              <a:ext cx="2032200" cy="41760"/>
            </a:xfrm>
            <a:custGeom>
              <a:avLst/>
              <a:gdLst>
                <a:gd name="textAreaLeft" fmla="*/ 0 w 2032200"/>
                <a:gd name="textAreaRight" fmla="*/ 2032920 w 2032200"/>
                <a:gd name="textAreaTop" fmla="*/ 0 h 41760"/>
                <a:gd name="textAreaBottom" fmla="*/ 42480 h 4176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6" name="Polyline 9"/>
            <p:cNvSpPr/>
            <p:nvPr/>
          </p:nvSpPr>
          <p:spPr>
            <a:xfrm flipV="1">
              <a:off x="2411640" y="3864240"/>
              <a:ext cx="2032200" cy="41760"/>
            </a:xfrm>
            <a:custGeom>
              <a:avLst/>
              <a:gdLst>
                <a:gd name="textAreaLeft" fmla="*/ 0 w 2032200"/>
                <a:gd name="textAreaRight" fmla="*/ 2032920 w 2032200"/>
                <a:gd name="textAreaTop" fmla="*/ -360 h 41760"/>
                <a:gd name="textAreaBottom" fmla="*/ 42120 h 4176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7" name="Овал 7"/>
            <p:cNvSpPr/>
            <p:nvPr/>
          </p:nvSpPr>
          <p:spPr>
            <a:xfrm>
              <a:off x="4404600" y="3825360"/>
              <a:ext cx="90000" cy="806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8" name="Овал 13"/>
            <p:cNvSpPr/>
            <p:nvPr/>
          </p:nvSpPr>
          <p:spPr>
            <a:xfrm>
              <a:off x="4501800" y="3786840"/>
              <a:ext cx="175680" cy="1576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9" name="Group 10"/>
            <p:cNvGrpSpPr/>
            <p:nvPr/>
          </p:nvGrpSpPr>
          <p:grpSpPr>
            <a:xfrm>
              <a:off x="4677480" y="3823200"/>
              <a:ext cx="2053800" cy="82440"/>
              <a:chOff x="4677480" y="3823200"/>
              <a:chExt cx="2053800" cy="82440"/>
            </a:xfrm>
          </p:grpSpPr>
          <p:sp>
            <p:nvSpPr>
              <p:cNvPr id="120" name="Polyline 14"/>
              <p:cNvSpPr/>
              <p:nvPr/>
            </p:nvSpPr>
            <p:spPr>
              <a:xfrm flipH="1">
                <a:off x="4727520" y="3823200"/>
                <a:ext cx="2003400" cy="41760"/>
              </a:xfrm>
              <a:custGeom>
                <a:avLst/>
                <a:gdLst>
                  <a:gd name="textAreaLeft" fmla="*/ 360 w 2003400"/>
                  <a:gd name="textAreaRight" fmla="*/ 2004480 w 2003400"/>
                  <a:gd name="textAreaTop" fmla="*/ 0 h 41760"/>
                  <a:gd name="textAreaBottom" fmla="*/ 42480 h 4176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20" bIns="-252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1" name="Polyline 16"/>
              <p:cNvSpPr/>
              <p:nvPr/>
            </p:nvSpPr>
            <p:spPr>
              <a:xfrm flipH="1" flipV="1">
                <a:off x="4727520" y="3863520"/>
                <a:ext cx="2003400" cy="41760"/>
              </a:xfrm>
              <a:custGeom>
                <a:avLst/>
                <a:gdLst>
                  <a:gd name="textAreaLeft" fmla="*/ 360 w 2003400"/>
                  <a:gd name="textAreaRight" fmla="*/ 2004480 w 2003400"/>
                  <a:gd name="textAreaTop" fmla="*/ -360 h 41760"/>
                  <a:gd name="textAreaBottom" fmla="*/ 42120 h 4176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20" bIns="-252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" name="Овал 17"/>
              <p:cNvSpPr/>
              <p:nvPr/>
            </p:nvSpPr>
            <p:spPr>
              <a:xfrm flipH="1">
                <a:off x="4677480" y="3825000"/>
                <a:ext cx="88560" cy="8064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23" name="PlaceHolder 4"/>
          <p:cNvSpPr>
            <a:spLocks noGrp="1"/>
          </p:cNvSpPr>
          <p:nvPr>
            <p:ph type="title"/>
          </p:nvPr>
        </p:nvSpPr>
        <p:spPr>
          <a:xfrm>
            <a:off x="1565640" y="2608200"/>
            <a:ext cx="604800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7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28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9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0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1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2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33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4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5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547640" y="274680"/>
            <a:ext cx="604800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3640" y="1772640"/>
            <a:ext cx="7776000" cy="43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22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ftr" idx="23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sldNum" idx="24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1272165E-2CAF-4E71-A9FF-078A559F4375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3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44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5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6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7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8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49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25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26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sldNum" idx="27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1378843-7073-4EDB-A419-A49C403211FC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9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60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1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2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3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4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65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68" name="PlaceHolder 1"/>
          <p:cNvSpPr>
            <a:spLocks noGrp="1"/>
          </p:cNvSpPr>
          <p:nvPr>
            <p:ph type="dt" idx="28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ftr" idx="29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0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E09243FB-52F3-429B-AE90-2B53636842DB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5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76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7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8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9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80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81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4" name="PlaceHolder 1"/>
          <p:cNvSpPr>
            <a:spLocks noGrp="1"/>
          </p:cNvSpPr>
          <p:nvPr>
            <p:ph type="dt" idx="31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32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33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AA2FE74F-B260-4D71-901A-D01CC06BF094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1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192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3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4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5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96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197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8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9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00" name="PlaceHolder 1"/>
          <p:cNvSpPr>
            <a:spLocks noGrp="1"/>
          </p:cNvSpPr>
          <p:nvPr>
            <p:ph type="dt" idx="34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35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6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3741818-6385-4462-96A9-04BCE2E136AF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7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208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9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0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11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12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213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4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15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16" name="PlaceHolder 1"/>
          <p:cNvSpPr>
            <a:spLocks noGrp="1"/>
          </p:cNvSpPr>
          <p:nvPr>
            <p:ph type="dt" idx="37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ftr" idx="38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9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6778C7BC-CD3B-44FA-A625-2F6707C80FB0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55680" indent="-355680" defTabSz="914400">
              <a:lnSpc>
                <a:spcPct val="100000"/>
              </a:lnSpc>
              <a:spcBef>
                <a:spcPts val="598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8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5892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"/>
            </a:pPr>
            <a:r>
              <a:rPr b="0" lang="en-US" sz="20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1460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4956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Placeholder 25" descr="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Placeholder 26" descr=""/>
          <p:cNvPicPr/>
          <p:nvPr/>
        </p:nvPicPr>
        <p:blipFill>
          <a:blip r:embed="rId4"/>
          <a:stretch/>
        </p:blipFill>
        <p:spPr>
          <a:xfrm>
            <a:off x="-108360" y="-24120"/>
            <a:ext cx="9360360" cy="153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3" name="Group 76"/>
          <p:cNvGrpSpPr/>
          <p:nvPr/>
        </p:nvGrpSpPr>
        <p:grpSpPr>
          <a:xfrm>
            <a:off x="3148560" y="1074240"/>
            <a:ext cx="2845440" cy="122040"/>
            <a:chOff x="3148560" y="1074240"/>
            <a:chExt cx="2845440" cy="122040"/>
          </a:xfrm>
        </p:grpSpPr>
        <p:sp>
          <p:nvSpPr>
            <p:cNvPr id="224" name="Polyline 77"/>
            <p:cNvSpPr/>
            <p:nvPr/>
          </p:nvSpPr>
          <p:spPr>
            <a:xfrm>
              <a:off x="3148560" y="110268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0 h 32040"/>
                <a:gd name="textAreaBottom" fmla="*/ 3276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5" name="Polyline 78"/>
            <p:cNvSpPr/>
            <p:nvPr/>
          </p:nvSpPr>
          <p:spPr>
            <a:xfrm flipV="1">
              <a:off x="3148560" y="1132920"/>
              <a:ext cx="1338840" cy="32040"/>
            </a:xfrm>
            <a:custGeom>
              <a:avLst/>
              <a:gdLst>
                <a:gd name="textAreaLeft" fmla="*/ 0 w 1338840"/>
                <a:gd name="textAreaRight" fmla="*/ 1339560 w 1338840"/>
                <a:gd name="textAreaTop" fmla="*/ 360 h 32040"/>
                <a:gd name="textAreaBottom" fmla="*/ 33120 h 32040"/>
                <a:gd name="GluePoint1X" fmla="*/ 0 w 3546443"/>
                <a:gd name="GluePoint1Y" fmla="*/ 161926 h 163813"/>
                <a:gd name="GluePoint2X" fmla="*/ 2619375 w 3546443"/>
                <a:gd name="GluePoint2Y" fmla="*/ 1 h 163813"/>
                <a:gd name="GluePoint3X" fmla="*/ 3514853 w 3546443"/>
                <a:gd name="GluePoint3Y" fmla="*/ 160602 h 163813"/>
                <a:gd name="GluePoint4X" fmla="*/ 85725 w 3546443"/>
                <a:gd name="GluePoint4Y" fmla="*/ 161926 h 163813"/>
                <a:gd name="GluePoint5X" fmla="*/ 85725 w 3546443"/>
                <a:gd name="GluePoint5Y" fmla="*/ 161926 h 1638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6443" h="163813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2240" bIns="-1224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6" name="Овал 79"/>
            <p:cNvSpPr/>
            <p:nvPr/>
          </p:nvSpPr>
          <p:spPr>
            <a:xfrm>
              <a:off x="4461840" y="1103760"/>
              <a:ext cx="59040" cy="6228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" bIns="-3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27" name="Овал 80"/>
            <p:cNvSpPr/>
            <p:nvPr/>
          </p:nvSpPr>
          <p:spPr>
            <a:xfrm>
              <a:off x="4525920" y="1074240"/>
              <a:ext cx="115560" cy="122040"/>
            </a:xfrm>
            <a:prstGeom prst="ellipse">
              <a:avLst/>
            </a:prstGeom>
            <a:solidFill>
              <a:srgbClr val="835a2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28" name="Group 81"/>
            <p:cNvGrpSpPr/>
            <p:nvPr/>
          </p:nvGrpSpPr>
          <p:grpSpPr>
            <a:xfrm>
              <a:off x="4641480" y="1101960"/>
              <a:ext cx="1352520" cy="63720"/>
              <a:chOff x="4641480" y="1101960"/>
              <a:chExt cx="1352520" cy="63720"/>
            </a:xfrm>
          </p:grpSpPr>
          <p:sp>
            <p:nvSpPr>
              <p:cNvPr id="229" name="Polyline 82"/>
              <p:cNvSpPr/>
              <p:nvPr/>
            </p:nvSpPr>
            <p:spPr>
              <a:xfrm flipH="1">
                <a:off x="4674240" y="110196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0 h 32040"/>
                  <a:gd name="textAreaBottom" fmla="*/ 3276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30" name="Polyline 83"/>
              <p:cNvSpPr/>
              <p:nvPr/>
            </p:nvSpPr>
            <p:spPr>
              <a:xfrm flipH="1" flipV="1">
                <a:off x="4674240" y="1133280"/>
                <a:ext cx="1319760" cy="32040"/>
              </a:xfrm>
              <a:custGeom>
                <a:avLst/>
                <a:gdLst>
                  <a:gd name="textAreaLeft" fmla="*/ -360 w 1319760"/>
                  <a:gd name="textAreaRight" fmla="*/ 1320120 w 1319760"/>
                  <a:gd name="textAreaTop" fmla="*/ 360 h 32040"/>
                  <a:gd name="textAreaBottom" fmla="*/ 33120 h 32040"/>
                  <a:gd name="GluePoint1X" fmla="*/ 0 w 3546443"/>
                  <a:gd name="GluePoint1Y" fmla="*/ 161926 h 163813"/>
                  <a:gd name="GluePoint2X" fmla="*/ 2619375 w 3546443"/>
                  <a:gd name="GluePoint2Y" fmla="*/ 1 h 163813"/>
                  <a:gd name="GluePoint3X" fmla="*/ 3514853 w 3546443"/>
                  <a:gd name="GluePoint3Y" fmla="*/ 160602 h 163813"/>
                  <a:gd name="GluePoint4X" fmla="*/ 85725 w 3546443"/>
                  <a:gd name="GluePoint4Y" fmla="*/ 161926 h 163813"/>
                  <a:gd name="GluePoint5X" fmla="*/ 85725 w 3546443"/>
                  <a:gd name="GluePoint5Y" fmla="*/ 161926 h 1638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46443" h="163813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240" bIns="-1224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31" name="Овал 84"/>
              <p:cNvSpPr/>
              <p:nvPr/>
            </p:nvSpPr>
            <p:spPr>
              <a:xfrm flipH="1">
                <a:off x="4641120" y="1103400"/>
                <a:ext cx="57960" cy="62280"/>
              </a:xfrm>
              <a:prstGeom prst="ellipse">
                <a:avLst/>
              </a:prstGeom>
              <a:solidFill>
                <a:srgbClr val="835a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IN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pic>
        <p:nvPicPr>
          <p:cNvPr id="232" name="Picture Placeholder 18" descr=""/>
          <p:cNvPicPr/>
          <p:nvPr/>
        </p:nvPicPr>
        <p:blipFill>
          <a:blip r:embed="rId5">
            <a:lum bright="70000" contrast="-70000"/>
          </a:blip>
          <a:stretch/>
        </p:blipFill>
        <p:spPr>
          <a:xfrm>
            <a:off x="107640" y="116640"/>
            <a:ext cx="8928360" cy="658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85800" y="836640"/>
            <a:ext cx="7771680" cy="100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722160" y="2061000"/>
            <a:ext cx="7771680" cy="381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US" sz="3200" spc="28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dt" idx="40"/>
          </p:nvPr>
        </p:nvSpPr>
        <p:spPr>
          <a:xfrm>
            <a:off x="43344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ftr" idx="41"/>
          </p:nvPr>
        </p:nvSpPr>
        <p:spPr>
          <a:xfrm>
            <a:off x="3100680" y="616536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sldNum" idx="42"/>
          </p:nvPr>
        </p:nvSpPr>
        <p:spPr>
          <a:xfrm>
            <a:off x="6529680" y="616536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FAB7D9C0-46F6-4920-9956-2F0BE0AFD773}" type="slidenum">
              <a:rPr b="0" lang="en-US" sz="1800" strike="noStrike" u="none">
                <a:solidFill>
                  <a:srgbClr val="603636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data.mendeley.com/datasets/wm6w2fvkfj/1" TargetMode="Externa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170360" y="2130480"/>
            <a:ext cx="6667920" cy="709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rmAutofit fontScale="55000" lnSpcReduction="19999"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AI-Driven Healthcare Appointment and Patient Relationship Management System Using Salesforce Agentforce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ubTitle"/>
          </p:nvPr>
        </p:nvSpPr>
        <p:spPr>
          <a:xfrm>
            <a:off x="2771640" y="4077000"/>
            <a:ext cx="3743640" cy="9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Times New Roman"/>
                <a:ea typeface="Arial"/>
              </a:rPr>
              <a:t>Jay Kumar Tiwari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Times New Roman"/>
                <a:ea typeface="Arial"/>
              </a:rPr>
              <a:t>BITS ID: 2024MT12101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Times New Roman"/>
                <a:ea typeface="Arial"/>
              </a:rPr>
              <a:t>M.Tech Software Systems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Times New Roman"/>
                <a:ea typeface="Arial"/>
              </a:rPr>
              <a:t>Course: S2-25_SSZG628T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Times New Roman"/>
                <a:ea typeface="Arial"/>
              </a:rPr>
              <a:t>Organization: Cognizant, Pune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Introduction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Healthcare systems increasingly rely on digital platforms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Traditional appointment systems are fragmented and manual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Need for intelligent automation and centralized CRM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Problem Statement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Manual appointment booking leads to errors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High no-show rates impact resource utilization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Lack of intelligent patient interaction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Poor integration across systems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Project Objectives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Design centralized healthcare CRM on Salesforce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Automate appointment workflows using Flows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Integrate conversational AI via Agentforce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Apply ML for no-show prediction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Ensure role-based security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Scope of Work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Outpatient appointment management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Patient and doctor data management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AI-assisted scheduling and status queries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Machine learning for operational prediction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No medical diagnosis included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Literature Review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Ileana et al. [1] highlight that without integrated CRM functionalities, distributed patient‑monitoring systems suffer from weak communication, limited personalization, and inefficient resource optimization.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Dordunoo [2] identifies the absence of a unified, data‑driven CRM framework as a major barrier to personalized patient interaction and effective healthcare service delivery.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Sunkara [3] notes a research gap in AI‑driven, CRM‑enabled platforms capable of converting raw clinical data into actionable, predictive intelligence for operational decision‑making.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Literature Review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Bajoria (2025) [4] argues that current healthcare CRMs function mainly as documentation repositories, lacking intelligent, proactive capabilities. Leading to administrative burden and reduced clinical efficiency.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Nelson et al. (2019) [5] demonstrate that </a:t>
            </a:r>
            <a:r>
              <a:rPr b="1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machine learning</a:t>
            </a: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 models like logistic regression, SVMs, random forests, AdaBoost, and gradient boosting can effectively predict hospital non‑attendance, supporting operational planning.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Deina et al. (2024) [6] present a decision‑analysis framework showing that ML‑based no‑show prediction enables strategies such as targeted reminders and controlled overbooking.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Research Methodology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1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Research Type</a:t>
            </a: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: Applied research combining system design, workflow engineering, and ML experimentation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Overall Approach: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Analyze gaps in existing healthcare CRM and appointment workflows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Design an integrated CRM + AI architecture using Salesforce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Develop automation flows, conversational interfaces, and ML prediction modules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Research Methodology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rcRect l="12597" t="5116" r="12597" b="29262"/>
          <a:stretch/>
        </p:blipFill>
        <p:spPr>
          <a:xfrm>
            <a:off x="3063600" y="1599840"/>
            <a:ext cx="3016440" cy="452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Overall System Architecture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User Interface – Salesforce Lightning + Agentforce Chat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Business Logic – Flows &amp; Apex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Data Layer – Custom Objects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ML Layer – External Prediction Service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Security Layer – Role-Based Access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Data Model Design (ER Overview)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Patient__c (Master Data)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Doctor__c (Availability &amp; Specialization)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Appointment__c (Transactional Object)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Medical_History__c (Visit Records)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Defined 1:N and 1:1 relationships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Workflow Automation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Screen Flow – Appointment Booking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Record Triggered Flow – Medical History Creation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Scheduled Flow – Appointment Reminders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Validation to prevent double booking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Agentforce (Conversational AI)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Book appointment via natural language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Check or cancel appointments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Query doctor availability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Trigger Salesforce Flows dynamically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Machine Learning Module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Use Case: Appointment No-Show Prediction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Binary classification model (Random Forest Classifier)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Dataset Used: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Salazar, Luiz Henrique (2023), “Medical Appointments No‑Show”, Mendeley Data, V1, doi: 10.17632/wm6w2fvkfj.1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Used directly for training and testing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Random Forest was chosen because it handles mixed data types, class imbalance, and nonlinear relationships more effectively than simpler models, making it more reliable for real‑world no‑show prediction.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Enable proactive reminders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Improve scheduling and resource allocation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Machine Learning Module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Pipeline Overview: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Preprocessing (encoding, date conversion, leakage removal, imputations)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Train–test split (80/20)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Random Forest training with class‑balanced sampling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Threshold tuning to maximize F1 for the no‑show class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Key Results: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Best Threshold: 0.51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No‑Show Recall: ~49% (model catches about half of all no‑shows)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Overall Accuracy: ~82%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Interpretation: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For a proactive reminder system, this performance is acceptable for a first version. It identifies nearly half of potential no‑shows.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Dataset &amp; Data Source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Medical Appointments No-Show dataset (  </a:t>
            </a: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  <a:hlinkClick r:id="rId1"/>
              </a:rPr>
              <a:t>Medical Appointments No-Show - Mendeley Data</a:t>
            </a: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  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Salazar, Luiz Henrique (2023), “Medical Appointments No-Show”, Mendeley Data, V1, doi: 10.17632/wm6w2fvkfj.1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Contains information on the no-show problem in loco at  rehabilitation centre by transcribing 49,593 medical records of 2016 to2022.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Security &amp; Access Control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Admin – Full Access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Doctor – Clinical Data Access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Receptionist – Booking Access Only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Field-Level Security enforced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Data privacy maintained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Next Steps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Integrate the trained no‑show prediction model into Salesforce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Use the serialized model (no_show_model.pkl) within backend services or middleware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Embed predictions into appointment workflows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Flag high‑risk appointments for staff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Monitor and refine model performance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Citations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[1] Ileana, M., Petrov, P., &amp; Milev, V. (2025). A Distributed Web System for Patient Monitoring Integrating CRM for Improved Clinical Management. International Work‑Conference on Bioinformatics and Biomedical Engineering, 393–407. Springer Nature Switzerland.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[2] Dordunoo, L. (2025). CRM and data analytics in healthcare: Strategy and change in practice. RAIS Journal for Social Sciences, 9(1), 102–118.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[3] Sunkara, S. S. AI‑Driven Patient Transfer Summarization Using Salesforce Health Cloud as a Clinical CRM Intelligence Platform.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[4] Bajoria, A. V. (2025). Cognitive Companion CRM: Proactive Intelligence for Personalized and Efficient Healthcare. Journal of Computer Science and Technology Studies, 7(5), 727–736.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[5] Nelson, A., Herron, D., Rees, G., &amp; Nachev, P. (2019). Predicting scheduled hospital attendance with artificial intelligence. NPJ Digital Medicine, 2(1), 26.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28" strike="noStrike" u="none">
                <a:solidFill>
                  <a:srgbClr val="603636"/>
                </a:solidFill>
                <a:effectLst/>
                <a:uFillTx/>
                <a:latin typeface="Times New Roman"/>
              </a:rPr>
              <a:t>[6] Deina, C., Fogliatto, F. S., da Silveira, G. J., &amp; Anzanello, M. J. (2024). Decision analysis framework for predicting no‑shows to appointments using machine learning algorithms. BMC Health Services Research, 24(1), 37.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Cloud-based scalable solution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AI + CRM integration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Operational ML implementation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Academically and industry relevant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98"/>
              </a:spcBef>
              <a:buNone/>
              <a:tabLst>
                <a:tab algn="l" pos="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03240" indent="-355680" defTabSz="914400">
              <a:lnSpc>
                <a:spcPct val="100000"/>
              </a:lnSpc>
              <a:spcBef>
                <a:spcPts val="1199"/>
              </a:spcBef>
              <a:buClr>
                <a:srgbClr val="873624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400" strike="noStrike" u="none">
                <a:solidFill>
                  <a:srgbClr val="835a2d"/>
                </a:solidFill>
                <a:effectLst/>
                <a:uFillTx/>
                <a:latin typeface="Times New Roman"/>
                <a:ea typeface="Arial"/>
              </a:rPr>
              <a:t>Questions &amp; Discussion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lassic">
  <a:themeElements>
    <a:clrScheme name="Classic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lassic">
      <a:majorFont>
        <a:latin typeface="Arial" pitchFamily="0" charset="1"/>
        <a:ea typeface="Arial" pitchFamily="0" charset="1"/>
        <a:cs typeface="Arial" pitchFamily="0" charset="1"/>
      </a:majorFont>
      <a:minorFont>
        <a:latin typeface="Times New Roman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blipFill rotWithShape="0">
          <a:blip r:embed="rId1"/>
          <a:srcRect l="0" t="0" r="0" b="0"/>
          <a:stretch>
            <a:fillRect l="0" t="0" r="0" b="0"/>
          </a:stretch>
        </a:blip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2026-04-22T00:44:26Z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15</vt:i4>
  </property>
  <property fmtid="{D5CDD505-2E9C-101B-9397-08002B2CF9AE}" pid="4" name="PresentationFormat">
    <vt:lpwstr>On-screen Show (4:3)</vt:lpwstr>
  </property>
  <property fmtid="{D5CDD505-2E9C-101B-9397-08002B2CF9AE}" pid="5" name="Slides">
    <vt:i4>15</vt:i4>
  </property>
</Properties>
</file>